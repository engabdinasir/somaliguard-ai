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f9af786b7f4d65" /><Relationship Type="http://schemas.openxmlformats.org/officeDocument/2006/relationships/extended-properties" Target="/docProps/app.xml" Id="R70e642e996424e9d" /><Relationship Type="http://schemas.openxmlformats.org/officeDocument/2006/relationships/officeDocument" Target="/ppt/presentation.xml" Id="Rf566c0ad7c7b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57f3441c14ad6"/>
  </p:sldMasterIdLst>
  <p:notesMasterIdLst>
    <p:notesMasterId xmlns:r="http://schemas.openxmlformats.org/officeDocument/2006/relationships" r:id="R455b650b8a96451a"/>
  </p:notesMasterIdLst>
  <p:sldIdLst>
    <p:sldId xmlns:r="http://schemas.openxmlformats.org/officeDocument/2006/relationships" id="256" r:id="R01738da8aab7442f"/>
    <p:sldId xmlns:r="http://schemas.openxmlformats.org/officeDocument/2006/relationships" id="257" r:id="R8ea064e476ed45e5"/>
    <p:sldId xmlns:r="http://schemas.openxmlformats.org/officeDocument/2006/relationships" id="258" r:id="R7efc90fe7350448b"/>
    <p:sldId xmlns:r="http://schemas.openxmlformats.org/officeDocument/2006/relationships" id="259" r:id="R950225d0d6f64cb1"/>
    <p:sldId xmlns:r="http://schemas.openxmlformats.org/officeDocument/2006/relationships" id="260" r:id="Ra60a0d1d68554108"/>
    <p:sldId xmlns:r="http://schemas.openxmlformats.org/officeDocument/2006/relationships" id="261" r:id="R27e00834f2534d0d"/>
    <p:sldId xmlns:r="http://schemas.openxmlformats.org/officeDocument/2006/relationships" id="262" r:id="R59b2972e7a0646b5"/>
    <p:sldId xmlns:r="http://schemas.openxmlformats.org/officeDocument/2006/relationships" id="263" r:id="Re02c7b010cc347fe"/>
    <p:sldId xmlns:r="http://schemas.openxmlformats.org/officeDocument/2006/relationships" id="264" r:id="Rf901b3f784ae4da3"/>
    <p:sldId xmlns:r="http://schemas.openxmlformats.org/officeDocument/2006/relationships" id="265" r:id="R2dddf2df1b7f4b45"/>
    <p:sldId xmlns:r="http://schemas.openxmlformats.org/officeDocument/2006/relationships" id="266" r:id="R55e346506e634939"/>
    <p:sldId xmlns:r="http://schemas.openxmlformats.org/officeDocument/2006/relationships" id="267" r:id="R66cc1696e7994a4a"/>
    <p:sldId xmlns:r="http://schemas.openxmlformats.org/officeDocument/2006/relationships" id="268" r:id="Rfdeb78d087574b1d"/>
    <p:sldId xmlns:r="http://schemas.openxmlformats.org/officeDocument/2006/relationships" id="269" r:id="R2480f10cc5d846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803edb3ad4049" /><Relationship Type="http://schemas.openxmlformats.org/officeDocument/2006/relationships/slideMaster" Target="/ppt/slideMasters/slideMaster1.xml" Id="R20957f3441c14ad6" /><Relationship Type="http://schemas.openxmlformats.org/officeDocument/2006/relationships/notesMaster" Target="/ppt/notesMasters/notesMaster1.xml" Id="R455b650b8a96451a" /><Relationship Type="http://schemas.openxmlformats.org/officeDocument/2006/relationships/presProps" Target="/ppt/presProps.xml" Id="R5494868b77fc4ea1" /><Relationship Type="http://schemas.openxmlformats.org/officeDocument/2006/relationships/viewProps" Target="/ppt/viewProps.xml" Id="R87900776a4ee4050" /><Relationship Type="http://schemas.openxmlformats.org/officeDocument/2006/relationships/tableStyles" Target="/ppt/tableStyles.xml" Id="R48099bd666a94ed1" /><Relationship Type="http://schemas.openxmlformats.org/officeDocument/2006/relationships/slide" Target="/ppt/slides/slide1.xml" Id="R01738da8aab7442f" /><Relationship Type="http://schemas.openxmlformats.org/officeDocument/2006/relationships/slide" Target="/ppt/slides/slide2.xml" Id="R8ea064e476ed45e5" /><Relationship Type="http://schemas.openxmlformats.org/officeDocument/2006/relationships/slide" Target="/ppt/slides/slide3.xml" Id="R7efc90fe7350448b" /><Relationship Type="http://schemas.openxmlformats.org/officeDocument/2006/relationships/slide" Target="/ppt/slides/slide4.xml" Id="R950225d0d6f64cb1" /><Relationship Type="http://schemas.openxmlformats.org/officeDocument/2006/relationships/slide" Target="/ppt/slides/slide5.xml" Id="Ra60a0d1d68554108" /><Relationship Type="http://schemas.openxmlformats.org/officeDocument/2006/relationships/slide" Target="/ppt/slides/slide6.xml" Id="R27e00834f2534d0d" /><Relationship Type="http://schemas.openxmlformats.org/officeDocument/2006/relationships/slide" Target="/ppt/slides/slide7.xml" Id="R59b2972e7a0646b5" /><Relationship Type="http://schemas.openxmlformats.org/officeDocument/2006/relationships/slide" Target="/ppt/slides/slide8.xml" Id="Re02c7b010cc347fe" /><Relationship Type="http://schemas.openxmlformats.org/officeDocument/2006/relationships/slide" Target="/ppt/slides/slide9.xml" Id="Rf901b3f784ae4da3" /><Relationship Type="http://schemas.openxmlformats.org/officeDocument/2006/relationships/slide" Target="/ppt/slides/slide10.xml" Id="R2dddf2df1b7f4b45" /><Relationship Type="http://schemas.openxmlformats.org/officeDocument/2006/relationships/slide" Target="/ppt/slides/slide11.xml" Id="R55e346506e634939" /><Relationship Type="http://schemas.openxmlformats.org/officeDocument/2006/relationships/slide" Target="/ppt/slides/slide12.xml" Id="R66cc1696e7994a4a" /><Relationship Type="http://schemas.openxmlformats.org/officeDocument/2006/relationships/slide" Target="/ppt/slides/slide13.xml" Id="Rfdeb78d087574b1d" /><Relationship Type="http://schemas.openxmlformats.org/officeDocument/2006/relationships/slide" Target="/ppt/slides/slide14.xml" Id="R2480f10cc5d846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fdd659619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1f24b5fd24548" /><Relationship Type="http://schemas.openxmlformats.org/officeDocument/2006/relationships/notesMaster" Target="/ppt/notesMasters/notesMaster1.xml" Id="R0a1919470cc1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b6b1dae8d341ed" /><Relationship Type="http://schemas.openxmlformats.org/officeDocument/2006/relationships/notesMaster" Target="/ppt/notesMasters/notesMaster1.xml" Id="R1ee793372c854e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05cd6a7ba4270" /><Relationship Type="http://schemas.openxmlformats.org/officeDocument/2006/relationships/notesMaster" Target="/ppt/notesMasters/notesMaster1.xml" Id="Rbc32cdcc63f2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dd588732c64d0e" /><Relationship Type="http://schemas.openxmlformats.org/officeDocument/2006/relationships/notesMaster" Target="/ppt/notesMasters/notesMaster1.xml" Id="Rfbadb182b8c5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f14adcfbe04ef1" /><Relationship Type="http://schemas.openxmlformats.org/officeDocument/2006/relationships/notesMaster" Target="/ppt/notesMasters/notesMaster1.xml" Id="R8ac79b6d94864e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2d4214a316435f" /><Relationship Type="http://schemas.openxmlformats.org/officeDocument/2006/relationships/notesMaster" Target="/ppt/notesMasters/notesMaster1.xml" Id="R03aa89fece464f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6c41f6dc6049ab" /><Relationship Type="http://schemas.openxmlformats.org/officeDocument/2006/relationships/notesMaster" Target="/ppt/notesMasters/notesMaster1.xml" Id="Rf89c2d3b5b0a45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8dae5b1c0450a" /><Relationship Type="http://schemas.openxmlformats.org/officeDocument/2006/relationships/notesMaster" Target="/ppt/notesMasters/notesMaster1.xml" Id="R6fe60a78ded8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6dcd024f1d4b20" /><Relationship Type="http://schemas.openxmlformats.org/officeDocument/2006/relationships/notesMaster" Target="/ppt/notesMasters/notesMaster1.xml" Id="R3b2c1bf91748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6ee5d789945b0" /><Relationship Type="http://schemas.openxmlformats.org/officeDocument/2006/relationships/notesMaster" Target="/ppt/notesMasters/notesMaster1.xml" Id="R3dcff60322004c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205c2393814997" /><Relationship Type="http://schemas.openxmlformats.org/officeDocument/2006/relationships/notesMaster" Target="/ppt/notesMasters/notesMaster1.xml" Id="Re5cfe9317af54d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c7888c96854ad3" /><Relationship Type="http://schemas.openxmlformats.org/officeDocument/2006/relationships/notesMaster" Target="/ppt/notesMasters/notesMaster1.xml" Id="Ra6bb74e4003645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74e00d4f23495f" /><Relationship Type="http://schemas.openxmlformats.org/officeDocument/2006/relationships/notesMaster" Target="/ppt/notesMasters/notesMaster1.xml" Id="Rf92f386bd8b944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4ad713862c4873" /><Relationship Type="http://schemas.openxmlformats.org/officeDocument/2006/relationships/notesMaster" Target="/ppt/notesMasters/notesMaster1.xml" Id="R1ebb5094737745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2f0b66308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f81b77ddf411c" /><Relationship Type="http://schemas.openxmlformats.org/officeDocument/2006/relationships/slideLayout" Target="/ppt/slideLayouts/slideLayout1.xml" Id="R1b9df91f6b484b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df91f6b484b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283d0276e4935" /><Relationship Type="http://schemas.openxmlformats.org/officeDocument/2006/relationships/image" Target="/ppt/media/image.png" Id="Rdaef1a6713494d67" /><Relationship Type="http://schemas.openxmlformats.org/officeDocument/2006/relationships/notesSlide" Target="/ppt/notesSlides/notesSlide1.xml" Id="R20f9a306c395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42bb1947a4fcc" /><Relationship Type="http://schemas.openxmlformats.org/officeDocument/2006/relationships/notesSlide" Target="/ppt/notesSlides/notesSlide2.xml" Id="R50d294832b14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66928b6f425e" /><Relationship Type="http://schemas.openxmlformats.org/officeDocument/2006/relationships/notesSlide" Target="/ppt/notesSlides/notesSlide3.xml" Id="R0e8893a9437649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81222084d4fe3" /><Relationship Type="http://schemas.openxmlformats.org/officeDocument/2006/relationships/notesSlide" Target="/ppt/notesSlides/notesSlide4.xml" Id="R67e2bae899aa41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67e3f20fa43b5" /><Relationship Type="http://schemas.openxmlformats.org/officeDocument/2006/relationships/notesSlide" Target="/ppt/notesSlides/notesSlide5.xml" Id="R3954f1cfe8a34f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9a78f91b43cc" /><Relationship Type="http://schemas.openxmlformats.org/officeDocument/2006/relationships/notesSlide" Target="/ppt/notesSlides/notesSlide6.xml" Id="Rd69edcba4c0e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50e8e947c4167" /><Relationship Type="http://schemas.openxmlformats.org/officeDocument/2006/relationships/notesSlide" Target="/ppt/notesSlides/notesSlide7.xml" Id="R70e93ddaaa9b48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917c69b98467d" /><Relationship Type="http://schemas.openxmlformats.org/officeDocument/2006/relationships/notesSlide" Target="/ppt/notesSlides/notesSlide8.xml" Id="R893125970161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4d3ecfc14324" /><Relationship Type="http://schemas.openxmlformats.org/officeDocument/2006/relationships/notesSlide" Target="/ppt/notesSlides/notesSlide9.xml" Id="Re9d4603cb090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ca94729714cf4" /><Relationship Type="http://schemas.openxmlformats.org/officeDocument/2006/relationships/notesSlide" Target="/ppt/notesSlides/notesSlide10.xml" Id="Rc6857b401ade4f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c43f9980b4a9f" /><Relationship Type="http://schemas.openxmlformats.org/officeDocument/2006/relationships/notesSlide" Target="/ppt/notesSlides/notesSlide11.xml" Id="R57d7d8ab9a2d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b4ce562f642ee" /><Relationship Type="http://schemas.openxmlformats.org/officeDocument/2006/relationships/notesSlide" Target="/ppt/notesSlides/notesSlide12.xml" Id="R259aab35ce8a41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e2c68b00e4806" /><Relationship Type="http://schemas.openxmlformats.org/officeDocument/2006/relationships/notesSlide" Target="/ppt/notesSlides/notesSlide13.xml" Id="R23dc3072109c42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3d76eaf1048f1" /><Relationship Type="http://schemas.openxmlformats.org/officeDocument/2006/relationships/notesSlide" Target="/ppt/notesSlides/notesSlide14.xml" Id="R9780759564b542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923E8-BA40-4528-ABC0-9458CBD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f1a6713494d67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92070-6EC1-4503-BB91-3B4B71CD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33993-05F5-4917-BA35-C890669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89AC-EE2C-47B1-8F0B-DE083029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3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2932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SUPERVISOR DEFENSE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9332E-9664-47AA-BDFD-8BBCC689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61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SomaliGuard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CF15A-8260-4B68-BD4C-0707DF13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Full-stack AI platform for Somali offensive text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1074C-F4E5-4BBA-8691-348EF83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497F3-E8F7-4C8C-B773-7293BFA3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81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React frontend  |  Flask API  |  MySQL database  |  EasyOCR  |  mBERT Transformer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3A1DD-E8A2-4802-B5C3-1D42290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Prepared for supervisor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12075-9BA9-43A6-8BBF-5AD0B42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Generated concept visual + local project source inspection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EE90-1CC8-4E23-8B81-9794EB6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1015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06D7A-0A84-41F7-9C91-8D8D78D8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57D29D-99C9-4DCF-8346-6DB1C39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D26D6B-508B-483E-8DAE-079A58A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PROJECT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C2463-1760-4FFA-8DEC-FA6DB84A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project solves a language-specific moderation gap with a complete AI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69556-F5B3-4545-92BD-C5D44A2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SomaliGuard AI is not only a model demo; it is a usable moderation system with identity, prediction, history, and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7A24C-0DCC-4EC7-BF8A-DF5BCA94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667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5FE2F-49FE-406D-931C-5478953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667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3A859-71D7-423A-A275-BB8D6C22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2667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1E2B1-C629-4CEE-BF34-2A3E52E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904C5-B5FF-4BE6-85C7-A651AAFB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Somali online text and screenshot content needs local-language moderation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28B2F-41D4-4F3C-AC18-1CF0617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E6653-D1B4-4F88-BAA0-92EA628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 useful system must handle text, images, authentication, storage, confidence, and admin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A7ECD-A5BE-4BDC-9B3F-FAD5A72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D2E07-A8D9-48C2-937F-53773C3D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 full-stack platform connects users to OCR, mBERT inference, MySQL history, and dashboards.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38A0F-A948-4FB2-AB56-C540354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B16B5-E6D6-488F-B95D-E49CAFF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2 labels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039A2-61C7-4BE1-8249-81E5B4E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67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Moderation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9273F-B717-4BF9-8B66-480E4B4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245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offensive / non-offensive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DE000-C652-49F9-BB34-FBD6381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785C4-B0EE-4655-98D8-B635BDC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864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2 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86DE6-370B-4342-9FC0-3699EA43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Content channels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C71E0-68EC-49F0-98F0-FBA6BD11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245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typed text + uploaded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AA866-C464-4BDA-8AE7-AC87578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0B0CE-27E0-4036-AAA9-E9F4A5D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864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mBERT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41AB7-CB3E-4E8C-8929-DF67BDD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674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Selected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3D508-EC11-4382-AA22-6E43DF61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1245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best reported F1 in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4D83F-17BA-48EE-9D21-29242DC8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CAC31-1DD5-4CCB-AD01-6ED0B56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864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MySQL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3D3B6-1305-42E7-812A-22D6FAED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67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D3DF3-1A94-4A66-8808-0672757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245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users, history, images, results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3D225-2FD4-42E2-B16F-A7F8EE31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App routes, inference.py, database_schema.sql, best_model_info.json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CD56A-A7F8-41B3-982D-1ECF9CA2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0146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63986-9B2A-450C-A530-23087EA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40B9A9-D95F-4A0A-876E-03ED11A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CABE25-7C1C-4CE4-A8FE-9ED270E6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DELIVERED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FE16F-611F-4790-BBD8-AAC12F7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delivered system spans frontend, backend, database, OCR, and Transformer inference.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E78BF-0E07-4208-A430-F58BA810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layer has a clear responsibility and a specific source file footprint.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89C2C-9FC8-4D2D-BD30-D49EF518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CLIENT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528BE-514F-4688-8B07-4315586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APPLICATION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F86AF-C766-4529-B436-CAE9F16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AI + DATA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4DE27-21B3-423B-B12D-8E1069A0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9550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1E516C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+ Vite UI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Home, Analyze, Text Prediction,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3F5BD-73F6-4183-A7AD-9B618B1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1E516C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Protected routes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JWT auth + admin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648DC-B9EC-4980-8EB0-5D452B34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1E516C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Charts, filters, recent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F9B15-3858-447F-AF06-53C119B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Flask API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Auth, contact, profile,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6B4FB-B8DE-4645-8DC4-AA10BE3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Prediction routes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/predict-text + /predict-image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7331C-F967-4FFC-86EB-ADA8144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 endpoints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+ user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14579-9C94-4795-B7D2-D70FDC5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1010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F766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EasyOCR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Extract text from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FF694-E761-4A71-A2AB-23A4FD6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01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F766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mBERT Transformer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Tokenize, classify,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10A8A-EED5-4999-8D3C-A89B4166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F766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MySQL persistence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Users, images, history,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6BA14-E81A-49AB-913E-39343BF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C144B-14DE-43E6-BA9B-ED707CF0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28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E21C6-5AAF-4F0A-ADDC-4CF3630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AEEE0-80BC-418F-86FF-FEFA73B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8215D-65FE-4CC2-8BE9-DA47251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29342-A486-4737-9EC6-A284124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76E64-D11E-46ED-8B4F-2C5A817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C6A8B-4280-4504-B3CC-02B312F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CB8BD-ED78-4A7A-A677-B241AD7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D92FA-A669-4AEA-A00F-C6D55B38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C9B23-A9DE-493B-A255-76CBC2F3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BDEE2-6467-4DFD-B85E-B0FB9A38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B4B0C-E793-461F-88F0-7663F2D6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Front_end/src/App.jsx, services/api.js, backend/app.py, inference.py, database.py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A3E0E8-4361-485F-ABB0-F79C3B56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94078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1BC8D-7B69-45F2-9EB1-468FEC06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6BA191-25E6-40D2-A814-30FD6153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5886FD-F3C0-469E-BC69-67F530F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SYSTEM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D5146-D7C1-42FC-8F46-CF0AB799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 user action moves through a controlled pipeline from input to stored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9E3F7-499F-49A9-BF36-01C6DBE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same workflow supports direct text analysis and image-based analysis with OCR.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88081-4E9F-4D97-8B3C-AD690FC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C47D-FE2E-47CD-8240-E407E45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6081-5A00-4413-949F-985A530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Authenticate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DC72-A528-4E11-9100-75C1715F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JWT login or registration with email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625DB-1385-4E47-B980-9F4EBE0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95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4782-7807-46C8-925B-CA0C6447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87391-7705-4670-9FA5-20FF50E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5BD54-8C0B-4400-B3F6-BB24CC96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804E4-8480-4B31-91F1-A4D235A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Submit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EED88-D783-44A2-B646-EB652D9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Typed Somali text or uploaded JPG/PNG/WEBP image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6F1A6-8B53-45B4-88C0-7D31E54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95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D1130-1173-4B61-8ACC-D3959800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DF038-7C68-4C4C-A0F6-F16780A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BDC31-8345-4FC1-BE8E-2716176D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92E3B-A84A-453E-8E82-131DC3D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4D992-1474-4C83-BCC4-299A661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Input checks, file type checks, rate limit, optional 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3C89B-6EB7-4524-B524-8A0C53A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14A65-B194-4B6E-A2E1-4F19E72D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77118-6A73-474F-A3EA-7631A90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8BDAC-7B23-483E-A108-4CF7797E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ECB17-F76E-4514-A66B-905BE0E3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Infer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AB1CB-3C02-439D-A06C-700151F8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 text, OCR if needed, mBERT classification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EAC0C-7AC6-4F79-ABBD-CBE585C7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95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2AAD3-0652-4C9C-AA88-FD4A8C5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C7F36-3305-4D43-91C0-F822CF07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15CB2-5739-4AA6-A54C-16A82B3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4EBCD-EFF5-4E28-A340-1E86010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Return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7B9E31-5FEB-4461-ACD1-91163F6D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Label, confidence, model name, review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0F29E8-8EE6-48B2-BB09-4B0FE72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95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2F8146-1E72-4DEA-AC62-FAAF06B2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0EC155-DAAD-4E48-88A7-520078F4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479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E353F3-D2F2-430D-B312-8BF09D9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38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67FD7-CC71-43AB-91DA-2A364115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Persist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EE4AB1-5AAC-4D9A-9E16-57B58B85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33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History, image records, classification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D81EAD-E348-4337-80F4-5D47C79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33950"/>
            <a:ext cx="7772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2932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Confidence threshold: low-confidence offensive/non-offensive predictions become needs_review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378349-6266-4A67-8FA4-F69E209B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Defense message: the workflow shows software engineering maturity around AI output, not only raw prediction.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9FDE10-60AD-4B38-A17F-D14B076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app.py attach_history, apply_review_threshold, predict_text_route, predict_image_route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949537-6B37-4796-B5F1-86F67D7A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69027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A8D16-7D15-476F-AA88-D0362E4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E8FA65-1EAA-4AEB-8F64-2C79C9C1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CBB777-5A79-44E0-83FD-8E3DEB9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FULL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D393C-7F70-4325-AFAD-83220F5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data flow has two paths, but both converge on the same Transformer classification 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79C98-85B2-4EE4-BD9C-43938412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Text-direct and image-to-OCR inputs share cleaning, tokenization, confidence scoring, and history persistence.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8BE58-3A54-4C60-9A34-A89222D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049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AF45A-727E-4E00-898A-B17FD6B8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Text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0CCD8-2A10-41A3-8574-8C87D29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812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456C2-56A3-4A2E-AD58-DDE68AD1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/predict-text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67841-0F97-413D-BB1D-5A1AD7B7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clean_somali_text()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E926A-9D12-40AA-A0C9-4DB7990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1049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814AC-6108-4A71-8447-D447D892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Image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5AF33-641E-4F96-A74D-9B8B3AF3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5760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Image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9F8D9-1E2A-4DA6-8D17-1145771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Validate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9C6F3-45F9-4BFB-A04A-1E6F8AE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EasyOCR extract_text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543AA-8862-43CB-8D4F-6AA5B2FD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mBERT tokenizer +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1D0A7-FEA6-46BF-903B-3FD11CD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Softmax confidence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label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07C76-831A-42F1-BBE6-5BE845A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435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JSON response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label +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FBEF2-FA0B-4435-91EF-4FB5426F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435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MySQL records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history/images/results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8E7F5-F8DE-4949-BACB-FA2D457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1942A-7D60-4892-B4FA-B52A1AA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51EA9-118E-4E6F-B8BF-8B1224EA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3D458-642E-4D8A-B847-227FFB6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4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6E067-B97F-4EAA-989B-2976AE87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81275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4A500-8932-4A16-A172-6C15643E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90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C5951-23AF-402D-9A71-E8E661D4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8A72F-49AE-4BDB-8287-746318F1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0A262-A540-400B-B592-A19837FE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481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37783-7C39-42DA-8BFD-F64A2554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00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19B28-853E-4EDB-8068-965FC57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F9783-D5D2-462D-9B21-B2D86EE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90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C9913-6DFE-4391-9661-6C132339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623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B1715D-F711-460D-B019-D537744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000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CEFEB-3D3F-4239-8A3E-397A138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71975"/>
            <a:ext cx="190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6C171D-E324-4F1B-887E-A4C4CBC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14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BAD0D2-98CE-4104-927D-9BBABA26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0067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70C38-5852-4D60-9A20-73F78931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B308E-00DD-4B3C-AA44-148D47F7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inference.py predict_text, predict_image, extract_text_from_image; app.py prediction routes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105E75-C296-451F-A4ED-176ABF43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91928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D3391-C4D3-4E8B-838E-414A80D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5069437-AB92-49F7-8C11-046C9667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D25931-22AF-4325-9E5E-6B630014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B335D-1CB3-4253-B281-07E48A9D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frontend is organized around authenticated analysis, history, and admin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0FB7C-1117-4EEB-931A-596A5FE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React Router separates public auth pages, protected user workflows, and admin-only dashboard routes.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21367-E186-4FF2-9BD1-C906F330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7A84-D1B1-426B-8796-30194722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42EBE-3EC3-4809-8F62-4EF3B99A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6A8E1-4E11-475E-8601-D578CCDC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Public + auth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E57D5-FC20-4154-B186-AFFCFCA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08542-1F4D-46FE-8AFF-7579611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8F668-8BD5-47F4-845C-9B710C5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Forgot 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99C3E-9BAC-45AF-ABDD-99A91A8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Reset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32DCF-BB64-4B5C-8658-BA8CBC6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2B4AD-7803-407F-8A2B-CD370A3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AD78C-97D1-4659-9F6F-D4486AE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Protected user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5C5DE-5F79-48CD-B400-B2EF2670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Home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7C353-9A89-41BE-B46E-7E978606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Analyze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53C0A-468E-48AE-BFB4-F4DC1F8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Predict 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D3437-C4EA-4384-A3EF-8FC312D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E0BAB-3D8C-4ACF-AE05-749EDB7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About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EF56C-E262-4592-A276-837D642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Admin-only routes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80DC4-A691-4D61-BA72-2EC952C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6F51D-079F-4CBB-8AB5-C1C230E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Users redirect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369B6-AD0B-4461-9727-F416D2C9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updates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FB0B5-8A9E-49BC-B103-6FCFD9BD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Deactivate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C0D14-7998-48E8-A2F5-07C5FD63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Key engineering point: frontend route protection mirrors backend role enforcement, which strengthens the defense story around controlled access.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5D7EE-3EAF-4895-AE6C-05CFAFA3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Front_end/src/App.jsx, ProtectedRoute.jsx, AuthContext.jsx, services/api.js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0DCCA-A46D-48C7-8F64-809AE8A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99075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86502-CBD2-42CE-98D1-4C1C14A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1059DD-44DB-42BD-AECB-BB60484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536976-4D13-49B4-8F27-C3C8094F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7512B-E4D6-425B-88D7-B963AD3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Flask backend exposes a focused API surface for auth, prediction, admin,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A3AA3-2BEA-427D-ADE2-D11E8DE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A5FD0-4BE1-413D-B90A-AD7255D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39000-E24A-4E10-9799-8ABF950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/send-verification-code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BCEC-F1C0-4AE0-A100-B5DC762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/register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52F52-6F8A-499D-B047-A7AEB74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87F2F-7601-42D6-8C1A-35EDCB8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/auth/google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1BC40-9655-404D-8007-D82624DF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/forgot-password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891EC-1455-4936-9BDE-DFBD671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/reset-password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2BAB8-31EC-4D57-A0EA-A99A3B9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2CE1F-0650-40BA-AA39-68ED9586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2F48C-B769-420C-BC04-24DD5A5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/predict-text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8C1E6-0A7E-4390-BB06-A099F08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528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/predict-image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D418C-D5ED-4269-ADB8-FF77091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528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 /history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16227-8776-4CC3-92B8-DA3846B7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3FFCB-08B9-4383-9BEE-593EBFA7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User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7EC74-9416-4E32-B8AD-B7725F70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2448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 /profile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8DAF1-8373-4BD6-8CC5-48E0C58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2448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/profile-picture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BEEC6-5D56-461E-860E-3093071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528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2448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 /uploads/profile_pictures/:file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805DE-DF03-4200-8A78-68038E22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E3BB0-FB84-40F9-BCD4-54FDDE9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Admin +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E0D29-FCF5-48DC-99E2-7C154B4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 /admin/dashboard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9B2DB-7150-4880-8A70-54F15474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GET/POST /users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06FE7-2515-4A47-8545-9546D9C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528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PUT/PATCH/DELETE /users/:id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E62DD-4946-4289-A56B-ACF23CD1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 /contact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96117-1666-48D9-AE85-38B3FED3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backend/app.py route decorators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AF6F2-62A6-4EEA-9FD2-0A0BFE0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70295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80770-A77F-4125-A673-7C95FC2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49F462-4675-4F21-9A63-C183FB9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FBF983-CF99-4016-B0BA-A50009E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TRANSFORMER COMPONENT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78A8B-CAD7-4724-BA2F-4437C96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Transformer component cleans text, tokenizes it, scores it with mBERT, and returns a confidence-aware label.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1B2F3-D97C-417C-871F-159CE42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inference layer is isolated in inference.py, making the model path clear and defensible.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195AE-6DAC-4E61-AC10-B193814A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Raw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5CD2E-2DAE-4C62-B80C-76AC6C88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Text or OCR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F5F03-039F-4697-9C10-5A524C2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67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03F5E-9A83-4783-A8BD-B684F81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19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717AF-CD94-45E0-AF1A-8C9D0555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Clean Somali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04CC6-F2CD-4C1D-A0A4-38964AFB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URLs, mentions, emoji, punctuation, repeats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8F59-B36E-4F81-8156-99F61F3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67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CEC5F-2B63-4616-9C77-79470692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19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135EC-DE1E-495F-ACC5-DBFC9A71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Tokenizer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DC35D-7BCB-44C8-ADB7-A63B278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AutoTokenizer with max_len 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83A8D-FE94-45E0-BDA9-A740CC0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1C165-3B46-43BC-8DD2-6CEBB337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19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60042-34AD-454C-9856-8E459EA9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mBERT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C994-FA79-4247-8FFF-82773895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AutoModelForSequenceClassification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9449F-3A73-434D-9636-18440B61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18E78-F5B1-4080-80BB-2FDDEBF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01B9B-1703-4780-97B2-CD04EFB5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Softmax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7780E-49B1-4CE4-9732-F4E7249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 probabilities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6D8C4-9A33-43E3-8D77-D36854D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6B2F9-4F0A-49AE-BB88-EA5BACA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19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03F065-C720-40A0-A6FD-7DECAFA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Label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A98EA-BEA7-448E-833C-A08F41E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offensive / non-offensive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331D04-4940-480C-8F0F-0ACD7674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19650"/>
            <a:ext cx="3543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26D7D-03D6-4ACE-8E43-BEE4D21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72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Image extension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C1596-C39D-4884-8452-5EFB828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197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EasyOCR extracts text before the same cleaning and classification path.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1E3A7-D58B-48BE-A9DC-ABD32220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543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6F0AF-BF34-45B9-8729-4FE537E8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Review guard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7A7EF-AD2A-41A5-AE82-CF6FF00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Predictions below the configured confidence threshold become needs_review.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E9EF4-4804-4ECF-941D-9E8337A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inference.py, app.py apply_review_threshold, best_model_info.json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13F73B-E338-4E9C-9EC9-98C5A8B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23956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4460E-76A3-42CD-8117-09383CA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C5BDC7-3C38-48DD-9F57-FE5A33D9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43B967-1545-43BB-A7BB-E73F000B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44217-795C-4635-96F1-53819E8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Benchmarking selected mBERT because it led the evaluated candidates on F1 and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CCF0F-D6A5-46FB-80CE-3FF6AA22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model comparison includes transformer and deep-learning baselines; mBERT becomes the deployed inference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09EC4-BB1F-4451-888E-AF1FAEE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AD02D-3148-41EC-B496-24FA43FA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5742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AA1E1-7600-4430-A36C-68D55B9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57425"/>
            <a:ext cx="517274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BBBDD-F2C3-4D60-9E1A-60244228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0.834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69D4-E2B6-47A2-A398-8358B3AC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DistilBERT Multilingual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69157-648C-4AE5-A7AF-5E1C3E4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5747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F5694-FA47-460B-B6C0-B82AFF44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57475"/>
            <a:ext cx="516653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066D6-B16B-4404-935A-B404E7CD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BFC6A-33F3-401E-950C-B9AADDE8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AfroXLMR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4FFD3-DB3B-46BE-BD70-EB9CFFCC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CE00C-6B2F-4E6B-8278-5D8FA0EB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516653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1A516-7FBC-4250-9908-B3B6FE3A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5939E-449C-49E5-945E-CC56F55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XLM-RoBERTa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EEF8F-841E-409F-84A2-CC1055BD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5757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9A1B1-F8EC-496D-8D10-F708605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57575"/>
            <a:ext cx="503628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4F676-D501-4D8F-9902-72B1BC3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0.812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C3730-F88D-47C7-99D1-0439BD11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BiGRU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5DECB-9138-4311-BDA3-8F7743B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5762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082B4-9A7E-4B4C-9B2A-12253A77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57625"/>
            <a:ext cx="487502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060E0-04B9-402F-AE0B-DB0AE4AA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0.786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6922A-18F9-4691-8608-5D20CA4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CNN-LSTM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58142-C98F-4663-A703-161571D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5767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BFAC0-94D9-44E3-9A8C-604AA696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57675"/>
            <a:ext cx="486262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CA141-A481-4DA5-91A6-11F8B3D6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0.784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9E792-063F-4AC9-8508-E3ADE03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189324-AD98-4C24-84D3-4769B90B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5772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771D9-DB98-482F-883C-4348113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57725"/>
            <a:ext cx="4763386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CA8B4-725D-4048-9F08-74FAEA0E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0.768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B567AB-7D8D-460A-862B-EAA8D8E4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BiLSTM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2BD536-6B63-4779-98E0-F4DF684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5777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650F80-56A9-4C6C-A240-896DB28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57775"/>
            <a:ext cx="475718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C63EE-B3C9-4EC9-AD91-1ADCD6E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0.767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B16D5-95A7-4046-A326-38976D0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BC494B-46B9-4FA7-A604-77FB5FE4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5782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576127-DE22-4361-A086-E3D077A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57825"/>
            <a:ext cx="442846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4507CE-D07A-43E0-B9D7-7077CD29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0.714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E751D8-5736-47B3-82E9-6855D1C8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875ED7-157D-4A10-A198-3B1742CD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57875"/>
            <a:ext cx="53340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7BBE1E-8258-4145-B50C-8A802F63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57875"/>
            <a:ext cx="442846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D765B1-32AC-466C-896A-6648733B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0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0.714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0F19E-B535-4062-A4D0-A206E9E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91381F-3684-428E-A4C1-212D074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0.8225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00C35C-028D-4F88-A89F-5463E97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mBERT accuracy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69B432-2964-4117-B9BE-412DE74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337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best_model_info.json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C47E30-C47A-4F95-BBD1-5C7DED8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F6E12B-7783-4D0F-BC2A-B42230CE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0.8679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605AA5-48B9-4562-8050-21FAA33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mBERT precision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C423B7-39C8-4070-943A-E13C811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86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weighted project metric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E33097-ACA3-4ADD-AA9B-9DF9D10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288BE6-BD17-4792-A200-8AC8A633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006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0.8340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9C791-4F64-4A9C-8BCC-EBA3A00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816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mBERT F1-score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CADE1D-781F-4942-8C53-73C45E40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388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selected model signal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059584-6E71-4D4A-AFAE-ED1586C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Models_and_backend/reports/model_comparison_results.csv and models/best_model_info.json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6B8D91-81DA-418B-8F77-BFA0CBA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99796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419D8-7E46-490E-BED2-4A4D9CA0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5B089B-A50B-45BB-B6F7-DFDA3C3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32D4FD-FFC4-40E3-AC4F-FD217622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DATABASE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A9704-C0B3-4CE5-AC7F-E0661B54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database design preserves accountability across users, images, predictions, and classification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9C327-2BD4-4978-9CF9-232C5E8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schema supports both direct text predictions and image-based records with foreign-key relationships.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21656-86F2-4E51-8C03-4135808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id, email, role, is_active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CCCEC-49B4-456E-A557-6686C46C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prediction_history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input_type, text, prediction,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91FA0-B7F6-4BBA-A42A-4137C91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uploaded_images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image_id, image_path, uploaded_at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C7A19-A646-4EF7-A605-6DF48CF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667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A1F2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classification_results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image_id, extracted_text, label,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5E4A7-7048-4115-9E2B-840D909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B2448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password_reset_tokens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hashed token + expiry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9176-E51A-4F3C-82F4-FC9B9E22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667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email_verification_codes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hashed code + 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15806-97ED-459E-B5DC-3BAFF8A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09900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269E-D801-4A39-89DD-FC1F064F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9C453-BAC8-46CA-9851-C09C31B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43400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93E03-2724-478C-8B9A-A7BB4D06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CA1A7-4483-4CD9-8D77-F924C727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1057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4C72B-2B79-44F5-826B-BD050AED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2939C-D864-41CF-80A8-5FD3BDD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813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D4932-BC00-452A-9C73-C199EE8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89E92-A128-45B8-926D-571F8530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Indexes support common queries: prediction history by user/date, users by role/active status, and verification code lookup.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5E6DA-86B4-4F2E-A043-6034FEA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database_schema.sql and database.py ensure_database_indexes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99107-4778-4F66-8F68-F79A2CE6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78262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8D782-8A8D-4973-AC9E-A62CC6A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283618-14BE-4629-973C-CB8AF2B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612DC0-D7C5-470E-8001-BEE5794A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SECURITY + RELIABILITY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BB441-8374-4EFE-8A0E-D9182DA6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Security and reliability features are built into the project rather than added after the 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35CD3-7EF9-47E5-A7A9-93D5AB1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5B307-5308-492B-84DB-8575231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6128F-A718-4FA8-8B65-39AAE80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07507-8B97-4005-AE2E-B420C5F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717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bcrypt password hashes, JWT tokens, Google credential validation, role-aware public user payloads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080D3-F8B0-45B5-B60A-3A9E42CF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FBDC0-1F53-4A65-AEA3-E236DD2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FAD76-E400-4C41-9CFF-9200428F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B8A6"/>
                </a:solidFill>
                <a:latin typeface="Aptos Display"/>
                <a:ea typeface="Aptos Display"/>
                <a:cs typeface="Aptos Display"/>
              </a:rPr>
              <a:t>Abuse prevention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62947-BE8F-4EDB-A7D7-2788E329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Flask-Limiter rate limits on login, registration, contact, reset, prediction, and uploads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20DEE-8BA4-4079-AA42-EA7E3F34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67682-2756-4EB0-9F47-511A036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9BF10-4FA5-4AB4-A5E9-486B179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Upload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834C7-FEBA-4254-A43C-602D2971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Extension whitelist, file content verification with PIL, secure filenames, 10MB default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B515A-A6CB-456A-9AF8-2AC8DFD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0A8A5-DDD6-4CE7-BB96-9A32EF55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4E9AC-51FF-439E-8ED7-FBB0786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Recovery 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BB9E0-27A4-4B7B-8396-7FC4580C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Hashed password reset tokens, generic reset response, expiring email verification codes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AB6A9-3E30-4392-B387-E24FCF4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8FF8A-A305-48B1-95E4-0E8FDE1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184F7-B11B-440D-A85E-A630BCA0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Production guardrails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B4869-F4F3-480E-BDC3-3C1C48A9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007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Production env requires JWT secret, database password, and SMTP configuration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BA9F8-414B-4CB3-A736-4E9CC74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auth.py, app.py, config.py, database.py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F48E2-D7F8-40C9-9B04-3F552EB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1834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B7BC3-C856-4B78-9660-BDDE9DB3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DDE377-F8EC-492D-B82B-9B92E82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277126-6667-4B83-AC01-AE2B328C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TESTING +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FD301-C222-43DA-A4A0-919EB394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Backend tests cover the workflows and failure paths a supervisor is likely to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61871-BC61-47B5-8E3C-BF5986D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test suite validates auth behavior, reset-token hashing, contact flow, prediction history, upload validation, and admin authorization.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0F9BB-13C2-4D90-902C-6C75E81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1F678-F461-4ED8-B9FF-9C7F670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registration, verification, login, history 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098C1-5F85-4E4B-A892-8C8762F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Password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780B3-DA16-4381-B4FF-48206CB1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generic response, weak password rejection, token hashing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C9C06-C8B3-4B10-A287-4A49C0B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127BC-3736-4514-8373-466A8BF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text history save, low confidence needs_review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2EE3D-C40E-4FB5-B708-A6AB0EA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Uploads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1F1C2-CDA0-42A6-B48F-9871FB5F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unsupported type and fake image rejection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FF29A-AF3D-4F9A-90F4-BE83B83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C7182-8F44-470F-8922-879DC72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regular user rejected from admin endpoints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645BB-1C6C-4400-83C4-BEE2DA4A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A2B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3D7EF-5AF7-4AF3-848D-0F7C991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valid email + required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B284C-779A-4A61-AD0C-2041EE5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Defense message: tests are concentrated around trust boundaries, not only happy-path UI behavior.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8F84C-647E-4E04-A6CC-804E6CA0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Models_and_backend/backend/tests/test_*.py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D1CFE-4F4D-495F-8018-800DA58A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2102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CAD37-25A5-4A73-AB85-5D113A3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7B6A9F6-85AE-4183-AF8D-75A3193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642A89-2374-42B4-AA90-1E3EED6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DEFENSE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F460-22D1-43A3-BEA8-FD15207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supervisor demo can tell a complete story in five observable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5C0E-267F-4825-809D-EE1AC0AD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sequence demonstrates product value, system integration, and AI behavior without diving into every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BC82B-DA3B-4A34-AFDF-3AF62FD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45FB8-7E96-475C-BE18-70F6A590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14BE0-ED0D-4786-924C-7C01504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790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05F1E-0540-40F4-8DAA-9383FC0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Create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89254-7737-4F8B-AFBA-51E2F12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email verification concept and JWT-authenticated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2C3AB-3EE9-43DA-B7D7-5C101549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F8681-15C7-47B1-9FBC-578FD02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04D55-8790-4F73-A9A9-5A29CF3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F6EAA-8B9A-467C-8D2E-35C46CD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9AA48-2A20-4C3F-A64C-01876A60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1790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51383-B26B-422A-BB32-C0F45765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Analyze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FD49B-8397-43AA-AFFA-9E54A33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Submit Somali text and display label, confidence, model 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75EDD-4DE1-451C-9F7F-B4300DF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D4BAC-944E-4B2E-BD47-C20E5A45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5C248-8058-42FB-BB74-BA9B8FB4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0ED53-4C9A-4902-A5AD-ADCF3B10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296F2-BD53-47E6-9BD8-E1F0D582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790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E8873-C707-46F8-B35C-4112ED1A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Analyze image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E8C77-0F4F-4605-81E2-BD26A7D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Upload screenshot/image and show OCR extraction before classification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9E440-E767-4B0B-906B-225BCB44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8F653-D00E-4239-8054-A7CA8FB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70C09-9867-4EB3-8EDC-BD4B8631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ACD1F-9122-43DD-8AD2-D74F3C6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4775C-840B-4858-B96E-B41E0E80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33750"/>
            <a:ext cx="1790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9E1C1-39F4-4ED2-A969-BCC1174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Review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E9B5F-FB3F-4F07-9F67-666ADA7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86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saved records, confidence, and text/image distinction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BDA85-6C37-481D-8F5C-6E2A7BF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241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2B62B-C7D9-40F8-8BD9-815AFC2C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D53499-A2FA-4769-BE55-8954C9E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3659DF-4680-4964-9927-36E72D74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267D56-A95F-41D2-A5CF-67661751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790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D5AAC9-D411-4813-91AC-FEB4A9A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Admin 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CCBD3-4707-40DB-A6BA-D8FB50BE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dashboard and user management boundaries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27B22B-795A-47D3-B15E-3AF92A08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62600"/>
            <a:ext cx="567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2932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Close with: model comparison, security controls, and roadmap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B26C5D-D51A-4EDE-AB91-6F4BB6B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Application user flows from frontend routes and backend endpoints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168554-83C3-4D05-9735-5E72D0CA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833998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257E2-944D-42C8-AB17-39A38C7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252804-3AE6-47E7-997A-0FF7E29D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C43ED2-2B88-46E9-A853-009A38A2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E22D8-14CF-4A1B-A9E9-C6A58616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next roadmap strengthens production readiness, language coverage, and monitoring.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44D26-DE1A-4A19-9200-974875C1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current system is defense-ready; the next phase is turning it into a stronger deployed moderation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7953F-DB50-4C99-8FE1-60015CAE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952750" cy="3333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320B8-F77C-495C-A16C-14371C37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3CFD1-9652-4ABB-9D8B-64FB128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Deployment 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6CF73-54C0-4630-A66A-5482136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Dockerized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A9CF9-EBA3-405B-A12E-F3D7C94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Redis-backed rate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C573B-CBEA-4E03-99D3-C4D0C0E4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Environment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B1D35-1865-4DF5-A1DA-D0E7F6F0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Frontend/backend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E326D-C560-4E93-8663-CDF55D59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952750" cy="3333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21F48-1B12-4AC4-8315-46D00D4A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Mid 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B3B48-BA0C-43BB-9D1D-ACA7A5DF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Model + data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1B75D-BDAE-4351-B525-4469B4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957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Expanded Somali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7B0DB-E22F-48F6-A002-F5FACA7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Dialect-aware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7E2F9-216C-43EC-A526-08654AD1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958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Error analysis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AC112-4258-4AF6-9553-03CAD14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958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Human review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1C33F-84A5-420E-8AE2-D97DED8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952750" cy="3333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F2E"/>
          </a:solidFill>
          <a:ln xmlns:a="http://schemas.openxmlformats.org/drawingml/2006/main" w="9525">
            <a:solidFill>
              <a:srgbClr val="1F34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EB3FF-FABE-4471-B97A-18B3D2B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Long term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F26C4-F08C-41D5-9F73-3846B4A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Operational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92817-150B-46B8-926B-5FBAA86E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Monitoring and drift alerts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A65D2-AECD-401B-9ED0-62D698A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Batch moderation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76D4C-3141-4DEA-B325-5DDA8BE6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Feedback loop for retraining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6E7C4-595F-439C-8301-2B9310D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2457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2364B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Role-based organization accounts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3DE15-6DD0-415E-99E8-E2C2544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Supervisor takeaway: the project already demonstrates a complete system; future work is focused on scale, evaluation depth, and production operations.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2840F-96C0-4049-A3E5-7420466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Roadmap inferred from current codebase capabilities and production gaps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944C6-6130-4F63-B60F-770790E4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2318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2026-06-02T08:24:18.7920000Z</dcterms:created>
  <dcterms:modified xsi:type="dcterms:W3CDTF">2026-06-02T08:24:18.7920000Z</dcterms:modified>
</coreProperties>
</file>